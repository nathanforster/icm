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611094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4375" y="571500"/>
            <a:ext cx="7715250" cy="10058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3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Interpretable Context
Methodology (ICM)</a:t>
            </a:r>
            <a:endParaRPr lang="en-US" sz="3300" dirty="0"/>
          </a:p>
        </p:txBody>
      </p:sp>
      <p:sp>
        <p:nvSpPr>
          <p:cNvPr id="4" name="Text 1"/>
          <p:cNvSpPr/>
          <p:nvPr/>
        </p:nvSpPr>
        <p:spPr>
          <a:xfrm>
            <a:off x="1000125" y="2091668"/>
            <a:ext cx="7429500" cy="6400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Orchestrating AI Agent Workflows with
Folders, Files, and Structure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1000125" y="3017453"/>
            <a:ext cx="5715000" cy="546497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This presentation introduces ICM — a lightweight, file-based framework that enables a single AI agent to execute complex, multi-step tasks without heavy code-based coordination frameworks.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39531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PROBLEM ICM SOLVES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376958"/>
            <a:ext cx="2428875" cy="12000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Most AI workflow frameworks rely on complex, code-heavy orchestration that is hard to inspect, debug, and maintain.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000500" y="1376958"/>
            <a:ext cx="457200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Traditional AI orchestration frameworks require significant engineering overhead — custom code, APIs, and runtime state management.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000500" y="2162770"/>
            <a:ext cx="4572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When something goes wrong, it is difficult to understand what the agent was "thinking" or which context it was operating in.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000500" y="2734270"/>
            <a:ext cx="4572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 pollution is a major failure mode: agents receive too much irrelevant information and produce inconsistent results.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000500" y="3305770"/>
            <a:ext cx="4572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Scaling multi-agent systems with code-based frameworks creates tight coupling and brittle dependencies.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000500" y="3877270"/>
            <a:ext cx="457200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10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There is no persistent "organizational memory" — each session starts from scratch with no record of prior decisions or workflow state.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57250" y="5091708"/>
            <a:ext cx="7715250" cy="303609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addresses all of these problems by replacing code-based coordination with a structured, human-readable folder and file system.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IS INTERPRETABLE CONTEXT METHODOLOGY?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234083"/>
            <a:ext cx="7715250" cy="720040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is a framework that uses folder structures, markdown files, and local scripts to orchestrate AI agent workflows — making every decision and context boundary visible and readable.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857250" y="2539910"/>
            <a:ext cx="2381241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INTERPRETABILITY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57250" y="2829232"/>
            <a:ext cx="23812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word "interpretable" is central: every routing decision, context boundary, and workflow stage is expressed as a readable file.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1000125" y="3657907"/>
            <a:ext cx="22383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 custom runtime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00125" y="3829357"/>
            <a:ext cx="22383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 complex API calls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000125" y="4000807"/>
            <a:ext cx="22383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 navigates by reading files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3524241" y="2539910"/>
            <a:ext cx="2381241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 ISOLATION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524241" y="2829232"/>
            <a:ext cx="23812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folder structure itself </a:t>
            </a:r>
            <a:r>
              <a:rPr lang="en-US" sz="850" i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is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the workflow engine: folder names, file names, and file contents collectively define what the agent should do and where.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3667116" y="3657907"/>
            <a:ext cx="22383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Each workspace loads only needed context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667116" y="4000807"/>
            <a:ext cx="223836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Prevents prompt pollution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6191231" y="2539910"/>
            <a:ext cx="2381241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PERSISTENT MEMORY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191231" y="2829232"/>
            <a:ext cx="238124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supports persistent organizational memory. Decisions, standards, state, and workflow history are stored as files that survive across sessions.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CORE DESIGN PRINCIPLES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is governed by five architectural principles that ensure deterministic, maintainable, and scalable AI execution.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969889"/>
            <a:ext cx="250031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Local Context Authority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357563" y="1969889"/>
            <a:ext cx="521493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nearest context file is authoritative — local rules always override global defaults.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7250" y="2558523"/>
            <a:ext cx="250031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Explicit Ownership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357563" y="2558523"/>
            <a:ext cx="521493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Each workspace owns its own workflows, outputs, state, standards, and deliverables.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857250" y="3147157"/>
            <a:ext cx="250031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Deterministic Routing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357563" y="3147157"/>
            <a:ext cx="521493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agent should never guess which workspace to use — the CONTEXT.md file makes routing unambiguous.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57250" y="3735791"/>
            <a:ext cx="2500313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Minimal Prompt Pollution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3357563" y="3735791"/>
            <a:ext cx="5214938" cy="18216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Agents load only the context necessary for the current task — no irrelevant data.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57250" y="4146556"/>
            <a:ext cx="2500313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Interpretability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357563" y="4146556"/>
            <a:ext cx="521493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repository structure itself explains ownership, workflow, routing, and execution flow to both humans and AI.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857250" y="4806628"/>
            <a:ext cx="7715250" cy="267891"/>
          </a:xfrm>
          <a:prstGeom prst="rect">
            <a:avLst/>
          </a:prstGeom>
          <a:noFill/>
          <a:ln/>
        </p:spPr>
        <p:txBody>
          <a:bodyPr wrap="square" lIns="0" tIns="127508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These principles are implemented through a consistent set of files that appear in every ICM workspace.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648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ICM FILE ANATOMY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ICM workspace is defined by three core markdown files that together tell an AI agent exactly what to do, where to work, and when to escalate.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57250" y="1934170"/>
            <a:ext cx="2500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ICM.md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57250" y="2187773"/>
            <a:ext cx="2500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FRAMEWORK CONTRACT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3786188" y="1934170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the workspace purpose and philosophy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3786188" y="2162770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Specifies which files the agent must load before acting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3786188" y="2391370"/>
            <a:ext cx="47863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Lists what the agent must avoid (unrelated workspaces, archived projects, irrelevant data)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3786188" y="2791420"/>
            <a:ext cx="47863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escalation conditions (conflicting requirements, missing approvals, ambiguous behavior)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3491508"/>
            <a:ext cx="2500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CONTEXT.md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7250" y="3745111"/>
            <a:ext cx="2500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ROUTING &amp; BOUNDARY MAP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3786188" y="3491508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Declares the workspace mission and ownership scope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3786188" y="3720108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Lists allowed actions (create files, generate deliverables, update workflows)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3786188" y="3948708"/>
            <a:ext cx="47863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Lists forbidden actions (modify unrelated workspaces, fabricate outputs, bypass review)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857250" y="4648795"/>
            <a:ext cx="2500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AGENT.md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57250" y="4902398"/>
            <a:ext cx="2500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OPERATIONAL CONTRACT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3786188" y="4648795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inputs the agent accepts (requirements, specifications, tasks)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3786188" y="4877395"/>
            <a:ext cx="478631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outputs the agent produces (deliverables, artifacts, workflow updates)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3786188" y="5105995"/>
            <a:ext cx="47863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Defines the "Definition of Done" — conditions that must be met before a task is complete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TWO ICM TEMPLATES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ICM template library currently includes two templates, each designed for a different class of project.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716286"/>
            <a:ext cx="3643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generic-agent-oriented-ICM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57250" y="2041327"/>
            <a:ext cx="364331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generalized multi-agent project structure suitable for content workflows, software projects, business operations, documentation systems, and general-purpose orchestration.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857250" y="2698552"/>
            <a:ext cx="3643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DEFAULT WORKSPACES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57250" y="2916436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writing-room/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Tutorials, documentation, content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57250" y="3307891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production/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Implementation, software builds, engineering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857250" y="3699346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community/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Outreach, marketing, customer communication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929188" y="1716286"/>
            <a:ext cx="3643313" cy="217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systems-engineering-ICM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929188" y="2041327"/>
            <a:ext cx="36433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domain-specific structure for engineering-intensive projects: automation systems, DAQ systems, hardware/software integration, validation-heavy projects, and engineering governance.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929188" y="2870002"/>
            <a:ext cx="3643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DEFAULT WORKSPACES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4929188" y="3087886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source-development/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Software, automation, instrumentation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4929188" y="3479341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documentation/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Manuals, plans, validation docs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4929188" y="3870796"/>
            <a:ext cx="3643313" cy="320018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sales/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
Proposals, technical collateral, presentations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4929188" y="4333689"/>
            <a:ext cx="3643313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SUPPORT DIRECTORIES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4929188" y="4551573"/>
            <a:ext cx="3643313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7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requirements/, standards/, templates/, state/, decisions/, risk-management/, compliance/, metrics/, governance/, verification-validation/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 EXECUTION FLOW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 AI agent operating inside an ICM project follows a strict, deterministic sequence of file reads before taking any action.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848445"/>
            <a:ext cx="214313" cy="525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214438" y="1848445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CORE CONTEXT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214438" y="2059186"/>
            <a:ext cx="1050131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the top-level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2264569" y="2050256"/>
            <a:ext cx="411491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ICM.md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2676060" y="2059186"/>
            <a:ext cx="1466255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 understand the project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214438" y="2219195"/>
            <a:ext cx="1494830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framework and philosophy.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2588158"/>
            <a:ext cx="214313" cy="525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14438" y="2588158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GLOBAL ROUTING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214438" y="2798899"/>
            <a:ext cx="1050131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the top-level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2264569" y="2789969"/>
            <a:ext cx="6858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CONTEXT.md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950369" y="2798899"/>
            <a:ext cx="1098352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 determine which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1214438" y="2958908"/>
            <a:ext cx="2012752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workspace handles the current task.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57250" y="3327871"/>
            <a:ext cx="214313" cy="5200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214438" y="3327871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ROUTE TO WORKSPACE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214438" y="3527896"/>
            <a:ext cx="328612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Navigate to the correct workspace folder based on the routing rules.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857250" y="4062226"/>
            <a:ext cx="214313" cy="5307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14438" y="4062226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LOCAL CONTEXT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214438" y="4272967"/>
            <a:ext cx="1451967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the workspace-level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2666405" y="4264037"/>
            <a:ext cx="68580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CONTEXT.md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3352205" y="4272967"/>
            <a:ext cx="53578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,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3405783" y="4264037"/>
            <a:ext cx="411491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ICM.md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3817274" y="4272967"/>
            <a:ext cx="262533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, and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1214438" y="4429404"/>
            <a:ext cx="54864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AGENT.md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1763083" y="4438334"/>
            <a:ext cx="28575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4929188" y="1848445"/>
            <a:ext cx="214313" cy="5200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286375" y="1848445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LOAD SUPPORTING CONTEXT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286375" y="2048470"/>
            <a:ext cx="328612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applicable standards, workflow metadata, and active project state files.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4929188" y="2582800"/>
            <a:ext cx="214313" cy="5200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06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5286375" y="2582800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EXECUTE WITHIN SCOPE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5286375" y="2782825"/>
            <a:ext cx="328612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Perform only actions permitted by the local context; never modify unrelated workspaces.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4929188" y="3317156"/>
            <a:ext cx="214313" cy="5200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07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5286375" y="3317156"/>
            <a:ext cx="3286125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ESCALATE WHEN NEEDED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5286375" y="3517181"/>
            <a:ext cx="3286125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If requirements conflict, approvals are missing, or behavior is ambiguous, escalate rather than guess.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4929188" y="4110084"/>
            <a:ext cx="3643313" cy="697213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KEY INSIGHT: This sequence ensures that every agent action is traceable to a specific file that authorized it — making the system fully auditable.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CREATING A PROJECT INSTANCE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Creating an ICM project instance is a structured, collaborative process between a human and an AI agent — the human selects the template and provides project details; the AI generates the customized structure.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969889"/>
            <a:ext cx="182166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146572" y="1996678"/>
            <a:ext cx="1348383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SELECT A TEMPLATE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43000" y="2259211"/>
            <a:ext cx="335756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Choose </a:t>
            </a:r>
            <a:r>
              <a:rPr lang="en-US" sz="800" b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generic-agent-oriented-ICM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for general projects or </a:t>
            </a:r>
            <a:r>
              <a:rPr lang="en-US" sz="800" b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systems-engineering-ICM</a:t>
            </a: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for engineering-intensive work.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857250" y="2937867"/>
            <a:ext cx="214313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78719" y="2964656"/>
            <a:ext cx="1669852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PROVIDE TEMPLATE TO AI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43000" y="3227189"/>
            <a:ext cx="335756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Point the AI agent at AI_PROJECT_CREATION_INSTRUCTIONS.md.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4077295"/>
            <a:ext cx="214313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178719" y="4104084"/>
            <a:ext cx="1643063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 INTERVIEWS THE USER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43000" y="4366617"/>
            <a:ext cx="335756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AI gathers: project name, purpose, domain, technical stack, workflow stages, organizational structure, documentation requirements, and compliance constraints.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4929188" y="1969889"/>
            <a:ext cx="217884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254228" y="1996678"/>
            <a:ext cx="1612702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 GENERATES INSTANCE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214938" y="2259211"/>
            <a:ext cx="33575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AI produces: customized folder structure, populated ICM.md / CONTEXT.md / AGENT.md files, standards, templates, workflow scaffolds, state tracking files, README files, and placeholder project artifacts.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4929188" y="3280767"/>
            <a:ext cx="214313" cy="2178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05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250656" y="3307556"/>
            <a:ext cx="2005608" cy="182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PACKAGE &amp; VERSION CONTROL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5214938" y="3570089"/>
            <a:ext cx="335756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AI packages the result as a downloadable ZIP archive. The human initializes a git repository for version control to maintain organizational memory.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652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EXPECTED OUTPUT ARTIFACTS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fully generated ICM project instance is a complete, self-describing operational system — not just a folder structure, but a living workflow engine.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862733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ICM.md (per workspace)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7250" y="2073473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Framework contract and context loading rules.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857250" y="2426364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CONTEXT.md (per workspace)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57250" y="2637104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Routing map, ownership boundaries, allowed/forbidden actions.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57250" y="2989994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AGENT.md (per workspace)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57250" y="3200735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Inputs, outputs, and definition of done.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3553625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README.md (per directory)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57250" y="3764366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Human-readable explanation of each area.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857250" y="4117256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standards/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857250" y="4327996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Coding standards, naming conventions, compliance rules.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4929188" y="1862733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templates/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929188" y="2073473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Reusable document and artifact templates.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4929188" y="2426364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state/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929188" y="2637104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Persistent operational memory — active project state.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4929188" y="2989994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decisions/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929188" y="3200735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Decision log for traceability and audit.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4929188" y="3553625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workflows/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4929188" y="3764366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Numbered, ordered workflow stage folders (e.g., 01-requirements/).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4929188" y="4277265"/>
            <a:ext cx="3643313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workspace/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929188" y="4488005"/>
            <a:ext cx="3643313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Active working area for in-progress artifacts.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195944" y="4648014"/>
            <a:ext cx="8889274" cy="318549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KEY INSIGHT: The resulting repository is both human-readable and AI-operable — it serves simultaneously as documentation, a workflow engine, and organizational memory.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AS ORGANIZATIONAL MEMORY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repositories are not just project scaffolds — they are long-term operational assets that accumulate knowledge, decisions, and workflow history across the life of a project.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848445"/>
            <a:ext cx="4371975" cy="407194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state/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provides </a:t>
            </a: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persistent operational memory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— the AI agent can resume work across sessions without losing context.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57250" y="2434233"/>
            <a:ext cx="4371975" cy="600075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decisions/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creates a </a:t>
            </a: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traceable decision log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— every significant choice is recorded with its rationale, supporting audit and governance requirements.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857250" y="3212902"/>
            <a:ext cx="4371975" cy="600075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standards/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encodes </a:t>
            </a: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organizational knowledge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— coding standards, naming conventions, and compliance rules are stored as files the agent can read and enforce.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57250" y="3991570"/>
            <a:ext cx="4371975" cy="578644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Version control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transforms the ICM repository into a </a:t>
            </a: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full audit trail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— every change to context, workflow, or standards is tracked over time.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657850" y="1848445"/>
            <a:ext cx="2914650" cy="957263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repositories should be treated as </a:t>
            </a: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engineering assets</a:t>
            </a:r>
            <a:r>
              <a:rPr lang="en-US" sz="1050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— they are operational systems, not disposable scaffolds.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657850" y="3513720"/>
            <a:ext cx="2914650" cy="146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RECOMMENDED PRACTICE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5657850" y="3731605"/>
            <a:ext cx="2914650" cy="1017203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5657850" y="3731605"/>
            <a:ext cx="28575" cy="1017203"/>
          </a:xfrm>
          <a:prstGeom prst="rect">
            <a:avLst/>
          </a:prstGeom>
          <a:solidFill>
            <a:srgbClr val="E639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657850" y="3731605"/>
            <a:ext cx="2914650" cy="1017203"/>
          </a:xfrm>
          <a:prstGeom prst="rect">
            <a:avLst/>
          </a:prstGeom>
          <a:noFill/>
          <a:ln/>
        </p:spPr>
        <p:txBody>
          <a:bodyPr wrap="square" lIns="170053" tIns="170053" rIns="170053" bIns="170053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850" dirty="0">
                <a:solidFill>
                  <a:srgbClr val="FAFAFA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git init
git add .
git commit -m "Initial ICM project instance"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307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QUALITY RULES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857250" y="1162645"/>
            <a:ext cx="7715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correctly generated ICM project instance must satisfy seven quality criteria that ensure it remains deterministic, maintainable, and scalable over time.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57250" y="1719858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DETERMINISTIC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7250" y="1919883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same task always routes to the same workspace — no ambiguity.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857250" y="2382775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MAINTAINABLE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57250" y="2582800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Files are structured so humans and AI can update them without breaking routing.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57250" y="3045693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SCALABLE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57250" y="3245718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New workspaces and workflows can be added without restructuring existing ones.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857250" y="3708611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MINIMAL AMBIGUITY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57250" y="3908636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folder name, file name, and routing rule has a single clear meaning.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929188" y="1719858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FUTURE AUTOMATION READY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929188" y="1919883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structure supports scheduled tasks, multi-agent handoffs, and CI/CD integration.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4929188" y="2382775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HUMAN READABLE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929188" y="2582800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Any team member can open the repository and understand the project structure.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4929188" y="3045693"/>
            <a:ext cx="364331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MULTI-AGENT CAPABLE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929188" y="3245718"/>
            <a:ext cx="3643313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Multiple AI agents can operate in different workspaces simultaneously without conflict.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857250" y="4442966"/>
            <a:ext cx="7715250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TO AVOID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57250" y="4678710"/>
            <a:ext cx="7715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Contradictory workflows, ambiguous ownership, hidden routing rules, and undocumented standards are the four failure modes that make an ICM project unmaintainable.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428625"/>
            <a:ext cx="8286750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GETTING STARTED WITH ICM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714375" y="1091208"/>
            <a:ext cx="8001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57B9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is immediately usable with the provided templates — getting started requires only a template selection, a brief AI interview, and a git repository.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714375" y="1634133"/>
            <a:ext cx="1346597" cy="267891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IMMEDIATE ACTIONS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92969" y="2044898"/>
            <a:ext cx="3679031" cy="578644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Font typeface="+mj-lt"/>
              <a:buAutoNum type="arabicPeriod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Choose your template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— generic-agent-oriented-ICM for general projects; systems-engineering-ICM for engineering work.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92969" y="2680692"/>
            <a:ext cx="3679031" cy="385763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Font typeface="+mj-lt"/>
              <a:buAutoNum type="arabicPeriod" startAt="2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Open an AI agent session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— point the AI agent at AI_PROJECT_CREATION_INSTRUCTIONS.md.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92969" y="3123605"/>
            <a:ext cx="3679031" cy="385763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Font typeface="+mj-lt"/>
              <a:buAutoNum type="arabicPeriod" startAt="3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Answer the AI's questions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— project name, purpose, domain, technical stack, workflow stages.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92969" y="3566517"/>
            <a:ext cx="3679031" cy="385763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Font typeface="+mj-lt"/>
              <a:buAutoNum type="arabicPeriod" startAt="4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Review the generated instance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— verify routing is unambiguous and ownership is explicit.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964406" y="4027289"/>
            <a:ext cx="1484114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Font typeface="+mj-lt"/>
              <a:buAutoNum type="arabicPeriod" startAt="5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Initialize version control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2448520" y="4027289"/>
            <a:ext cx="417909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— run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2795689" y="4032238"/>
            <a:ext cx="617237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git init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1096915" y="4200525"/>
            <a:ext cx="3539030" cy="3571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and commit the initial structure.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892969" y="4455914"/>
            <a:ext cx="3679031" cy="385763"/>
          </a:xfrm>
          <a:prstGeom prst="rect">
            <a:avLst/>
          </a:prstGeom>
          <a:noFill/>
          <a:ln/>
        </p:spPr>
        <p:txBody>
          <a:bodyPr wrap="square" lIns="8509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Font typeface="+mj-lt"/>
              <a:buAutoNum type="arabicPeriod" startAt="6"/>
            </a:pPr>
            <a:r>
              <a:rPr lang="en-US" sz="9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Operate the project</a:t>
            </a: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— point AI agents at the repository; they will self-route using context files.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857750" y="1634133"/>
            <a:ext cx="3857625" cy="267891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1111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LOOKING AHEAD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00625" y="2044898"/>
            <a:ext cx="37147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Additional ICM templates will be added to the library over time.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000625" y="2537817"/>
            <a:ext cx="37147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same framework scales from single-agent projects to complex multi-agent systems.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000625" y="3030736"/>
            <a:ext cx="37147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27000" indent="-127000" algn="l">
              <a:lnSpc>
                <a:spcPct val="120000"/>
              </a:lnSpc>
              <a:buSzPct val="100000"/>
              <a:buChar char="▪"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ICM repositories become more valuable over time as they accumulate decisions, standards, and workflow history.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857750" y="3884414"/>
            <a:ext cx="3857625" cy="1014413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4857750" y="3884414"/>
            <a:ext cx="28575" cy="1014413"/>
          </a:xfrm>
          <a:prstGeom prst="rect">
            <a:avLst/>
          </a:prstGeom>
          <a:solidFill>
            <a:srgbClr val="E639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5000625" y="3970139"/>
            <a:ext cx="3629025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E6394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CORE PROMISE OF ICM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000625" y="4248745"/>
            <a:ext cx="348615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single AI agent can execute complex, multi-step tasks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000625" y="4441627"/>
            <a:ext cx="3216473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simply by reading files — no custom code, no heavy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5000625" y="4634508"/>
            <a:ext cx="2364581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frameworks, no opaque runtime state.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1876</Words>
  <Application>Microsoft Office PowerPoint</Application>
  <PresentationFormat>On-screen Show (16:9)</PresentationFormat>
  <Paragraphs>206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monospace</vt:lpstr>
      <vt:lpstr>Space Grotesk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Forster, Nathan Douglas</cp:lastModifiedBy>
  <cp:revision>3</cp:revision>
  <dcterms:created xsi:type="dcterms:W3CDTF">2026-05-25T17:33:28Z</dcterms:created>
  <dcterms:modified xsi:type="dcterms:W3CDTF">2026-06-21T01:47:05Z</dcterms:modified>
</cp:coreProperties>
</file>